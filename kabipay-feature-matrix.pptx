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05840"/>
            <a:ext cx="10972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latin typeface="Calibri"/>
              </a:defRPr>
            </a:pPr>
            <a:r>
              <a:t>KabiPay feature matrix</a:t>
            </a:r>
          </a:p>
          <a:p>
            <a:pPr>
              <a:spcBef>
                <a:spcPts val="800"/>
              </a:spcBef>
              <a:defRPr sz="2000">
                <a:latin typeface="Calibri"/>
              </a:defRPr>
            </a:pPr>
            <a:r>
              <a:t>UI status · database coverage · Keka (benchmark)</a:t>
            </a:r>
          </a:p>
          <a:p>
            <a:pPr>
              <a:spcBef>
                <a:spcPts val="1600"/>
              </a:spcBef>
              <a:defRPr sz="1200" i="1">
                <a:solidFill>
                  <a:srgbClr val="505050"/>
                </a:solidFill>
              </a:defRPr>
            </a:pPr>
            <a:r>
              <a:t>Data source: kabipay-ui FEATURES.md + kabipay-database (Liquibase). CSV: kabipay-feature-matrix.csv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Calibri"/>
              </a:defRPr>
            </a:pPr>
            <a:r>
              <a:t>How to read the columns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1556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latin typeface="Calibri"/>
              </a:defRPr>
            </a:pPr>
            <a:r>
              <a:t>KabiPay UI: implemented / partial / not in UI — from implementation-validated UI documentation.</a:t>
            </a:r>
          </a:p>
          <a:p>
            <a:pPr>
              <a:spcAft>
                <a:spcPts val="1000"/>
              </a:spcAft>
              <a:defRPr sz="1600">
                <a:latin typeface="Calibri"/>
              </a:defRPr>
            </a:pPr>
            <a:r>
              <a:t>Database: Liquibase domain id or module (tenant schema) where the data model is provisioned per tenant.</a:t>
            </a:r>
          </a:p>
          <a:p>
            <a:pPr>
              <a:spcAft>
                <a:spcPts val="1000"/>
              </a:spcAft>
              <a:defRPr sz="1600">
                <a:latin typeface="Calibri"/>
              </a:defRPr>
            </a:pPr>
            <a:r>
              <a:t>Keka benchmark: indicative product areas on keka.com (Core HR, payroll, attendance, hiring, performance, EX, analytics, workflow, PSA) — for positioning, not a line-by-line audit.</a:t>
            </a:r>
          </a:p>
          <a:p>
            <a:pPr>
              <a:spcAft>
                <a:spcPts val="1000"/>
              </a:spcAft>
              <a:defRPr sz="1600">
                <a:latin typeface="Calibri"/>
              </a:defRPr>
            </a:pPr>
            <a:r>
              <a:t>Notes: product talking points, gaps, or roadmap phrasing for client meetings.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latin typeface="Calibri"/>
              </a:defRPr>
            </a:pPr>
            <a:r>
              <a:t>Feature matrix (slide 1 of 11)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777240"/>
          <a:ext cx="87782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1737360"/>
                <a:gridCol w="1143000"/>
                <a:gridCol w="1234440"/>
                <a:gridCol w="1417320"/>
                <a:gridCol w="2286000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Feature / capability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KabiPay UI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Keka (benchmark)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Notes for client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Meta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Status legend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See FEATURES.md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Implemented = wired; Partial = subset/mock; Gap = not shipped; DB = tenant schema domain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Auth &amp; access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Login &amp; JWT to GraphQL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Implemented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0005 auth_rbac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SSO / OTP (higher plans)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KabiPay: REST auth + tenant header; enterprise SSO is roadmap-style vs Keka add-ons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Auth &amp; access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Admin vs employee areas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Implemented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0005 auth_rbac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Role-based access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Sidebar and routes reflect role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Dashboard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Home dashboard (widgets)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Implemented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Multiple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Leadership / persona dashboards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KabiPay composes punch leave holidays notifications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Dashboard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Punch in / out with optional GPS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Implemented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0010 time + 0032 punch policy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Selfie / geo-fence (Keka tiers)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KabiPay: real browser geolocation; no selfie or fencing in UI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latin typeface="Calibri"/>
              </a:defRPr>
            </a:pPr>
            <a:r>
              <a:t>Feature matrix (slide 2 of 11)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777240"/>
          <a:ext cx="87782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1737360"/>
                <a:gridCol w="1143000"/>
                <a:gridCol w="1234440"/>
                <a:gridCol w="1417320"/>
                <a:gridCol w="2286000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Feature / capability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KabiPay UI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Keka (benchmark)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Notes for client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Dashboard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Leave balance snapshot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Implemented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0011 leave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Time-off policies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Current year balances via GraphQL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Dashboard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On leave today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0011 leave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Team calendar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KabiPay shows employee IDs not names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Dashboard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Upcoming holidays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Implemented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0010/0028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Holiday calendars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GraphQL upcoming holidays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Dashboard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Notifications preview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Implemented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0027+notifications path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Polls and announcements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Links to full notifications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Attendance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Shifts and attendance history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Implemented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0010 time_shift_roster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Biometric + 200+ devices (Keka story)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KabiPay: shifts + attendance list; no device integration in FEATURES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latin typeface="Calibri"/>
              </a:defRPr>
            </a:pPr>
            <a:r>
              <a:t>Feature matrix (slide 3 of 11)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777240"/>
          <a:ext cx="87782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1737360"/>
                <a:gridCol w="1143000"/>
                <a:gridCol w="1234440"/>
                <a:gridCol w="1417320"/>
                <a:gridCol w="2286000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Feature / capability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KabiPay UI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Keka (benchmark)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Notes for client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Attendance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Timesheet entries + add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Implemented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0010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PSA timesheets (Keka separate product)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Project code + hours path in UI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Attendance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Correction request workflow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Not in UI (component exists)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0010+0025 workflow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Manager corrections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KabiPay: modal not wired to Attendance page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Leave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Board and apply leave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Implemented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0011 leave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Advanced time off (Keka)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KabiPay: no cancel-pending in UI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Leave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Cancel pending request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Not in UI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0011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Standard in HR suites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Gap called out in FEATURES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Payroll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Payslips overview and cycles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Implemented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0012 payroll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Flexible pay schedules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GraphQL driven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latin typeface="Calibri"/>
              </a:defRPr>
            </a:pPr>
            <a:r>
              <a:t>Feature matrix (slide 4 of 11)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777240"/>
          <a:ext cx="87782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1737360"/>
                <a:gridCol w="1143000"/>
                <a:gridCol w="1234440"/>
                <a:gridCol w="1417320"/>
                <a:gridCol w="2286000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Feature / capability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KabiPay UI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Keka (benchmark)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Notes for client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Payroll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Pay &amp; tax pages (payslips + tax)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Implemented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0012+0013 tax_statutory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US/global payroll (Keka varies by region)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India TDS/PF/ESI emphasis in your stack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Payroll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India TDS + PF/ESI CSV export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Stub / permission-aware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0013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Compliance exports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KabiPay UI notes stub nature where applicable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Payroll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Regime compare / tax tips UX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Not in UI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0013+0031 tax_proof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Investment proofs / tax (Keka depth)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Data may exist; dedicated UX not in FEATURES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Payroll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Tax investment proofs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Not in UI (verify services)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0031 tax_proof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Proof submission flows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Kabipay-database: domain 0031; confirm end-to-end in svc + UI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Expenses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Submit and list expenses + approver actions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Implemented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0015 expense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Expense + cards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KabiPay: reject via prompt where applicable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latin typeface="Calibri"/>
              </a:defRPr>
            </a:pPr>
            <a:r>
              <a:t>Feature matrix (slide 5 of 11)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777240"/>
          <a:ext cx="87782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1737360"/>
                <a:gridCol w="1143000"/>
                <a:gridCol w="1234440"/>
                <a:gridCol w="1417320"/>
                <a:gridCol w="2286000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Feature / capability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KabiPay UI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Keka (benchmark)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Notes for client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Expenses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Receipt or file upload on submit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Not in live path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0015+0029 file_storage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Receipt capture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KabiPay: amount/date/category; file storage in schema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Travel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Travel requests + approvals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Implemented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0033 travel_request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Travel policies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Keka: travel often bundled; you have domain + route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Notifications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Feed read/unread and announcements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Implemented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0027+communication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In-app + email (Keka)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actionUrl supported per FEATURES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Profile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Employee profile / settings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0007+0008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Interactive employee profile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Docs tab mock; not full live employee GraphQL for me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Profile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My documents (upload/list)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Partial / mock on profile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0008+0029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Document vault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KabiPay: use org routes for real lists per FEATURES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latin typeface="Calibri"/>
              </a:defRPr>
            </a:pPr>
            <a:r>
              <a:t>Feature matrix (slide 6 of 11)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777240"/>
          <a:ext cx="87782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1737360"/>
                <a:gridCol w="1143000"/>
                <a:gridCol w="1234440"/>
                <a:gridCol w="1417320"/>
                <a:gridCol w="2286000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Feature / capability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KabiPay UI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Keka (benchmark)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Notes for client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Organization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Directory org chart documents detail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Implemented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0006+0007+0008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CoreHR data hub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GraphQL per FEATURES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Workplace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Benefits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Implemented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0014 benefits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Easy benefits (Keka)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List/detail pattern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Workplace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Recruitment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Implemented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0016 recruitment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ATS, AI JD, scorecards (Keka)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Depth varies vs Keka hiring suite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Workplace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Onboarding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Implemented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0017 onboarding_offboarding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Onboarding+ pre-boarding (Keka tiers)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Checklist style in FEATURES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Workplace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Performance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Implemented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0018 performance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Goals OKRs 1:1s PIP (Keka)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Your DB has performance; Keka advertises more PM depth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latin typeface="Calibri"/>
              </a:defRPr>
            </a:pPr>
            <a:r>
              <a:t>Feature matrix (slide 7 of 11)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777240"/>
          <a:ext cx="87782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1737360"/>
                <a:gridCol w="1143000"/>
                <a:gridCol w="1234440"/>
                <a:gridCol w="1417320"/>
                <a:gridCol w="2286000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Feature / capability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KabiPay UI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Keka (benchmark)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Notes for client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Workplace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Learning (LMS)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Implemented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0019 lms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Inbuilt LMS (Keka)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Skills/courses in UI per FEATURES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Workplace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Assets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Implemented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0022 assets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Asset register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KabiPay page present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Workplace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Grievance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Implemented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0023 grievance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Helpdesk (Keka cross HR/IT)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Different positioning: case vs helpdesk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Admin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Employee CRUD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Implemented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0007 employee core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Core HR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Create/update modals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Admin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Attendance / punch policy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Implemented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0032 attendance_punch_policy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Advanced shift scheduler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Admin page implemented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latin typeface="Calibri"/>
              </a:defRPr>
            </a:pPr>
            <a:r>
              <a:t>Feature matrix (slide 8 of 11)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777240"/>
          <a:ext cx="87782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1737360"/>
                <a:gridCol w="1143000"/>
                <a:gridCol w="1234440"/>
                <a:gridCol w="1417320"/>
                <a:gridCol w="2286000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Feature / capability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KabiPay UI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Keka (benchmark)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Notes for client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Admin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Cross-module reports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0024 analytics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Custom report builder (Keka Growth+)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Client-side filters; no department slice; no PDF in FEATURES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Admin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Tenant / directory settings snapshot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0006+0007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Full settings product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Directory snapshot not full admin settings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Admin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Module health probe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Present URL only not in nav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All subgraphs via gateway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Ops health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KabiPay: manual URL; add sidebar for ops users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Admin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Bulk employee CSV import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Not implemented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0007+import flows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Bulk import common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Not found in UI per FEATURES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Platform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Custom fields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Not in UI (typical)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0009 custom_fields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Custom fields in suites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Schema ready; product surfacing TBD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latin typeface="Calibri"/>
              </a:defRPr>
            </a:pPr>
            <a:r>
              <a:t>Feature matrix (slide 9 of 11)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777240"/>
          <a:ext cx="87782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1737360"/>
                <a:gridCol w="1143000"/>
                <a:gridCol w="1234440"/>
                <a:gridCol w="1417320"/>
                <a:gridCol w="2286000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Feature / capability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KabiPay UI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Keka (benchmark)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Notes for client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Platform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Workflow engine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Partial / behind modules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0025 workflow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Cross-module workflows (Keka story)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KabiPay: attendance correction etc. not all wired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Platform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Integrations and connectors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Not full UI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0026+0005 catalog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Slack/Teams API webhooks (Keka)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DB + catalog; product UX TBD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Platform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Analytics warehouse / events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0024+0030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0024+0030 outbox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Predictive / DEI (Keka marketing)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KabiPay admin reports are lighter than full BI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Platform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Communication audit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Backend-oriented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0027 communication_audit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Audit trails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May surface as compliance feature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Platform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File storage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Partial use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0029 file_storage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Document + receipts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Drives future uploads across modules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latin typeface="Calibri"/>
              </a:defRPr>
            </a:pPr>
            <a:r>
              <a:t>Feature matrix (slide 10 of 11)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777240"/>
          <a:ext cx="87782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1737360"/>
                <a:gridCol w="1143000"/>
                <a:gridCol w="1234440"/>
                <a:gridCol w="1417320"/>
                <a:gridCol w="2286000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Feature / capability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KabiPay UI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Keka (benchmark)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Notes for client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Platform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Succession planning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No dedicated route in FEATURES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0020 succession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Talent pools (Keka)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DB domain present; not in workplace table of FEATURES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Platform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Compensation planning (non-run-rate)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Not dedicated UI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0021 compensation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Comp plans bonuses (Keka)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Beyond payslip; verify product scope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Engagement (gap vs Keka)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Pulse surveys / social recognition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Not in FEATURES as suite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N/A (future)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Praise badges social wall (Keka)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Keka: strong EX layer; you: notifications/announcements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Hiring depth (Keka)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Referrals internal board BGV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Varies in product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0016+integrations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Pro hiring features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Map recruitment roadmap vs Keka hire suite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Time advanced (Keka)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Selfie clock geo-fence distance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Not in UI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0010+0032 possible hooks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Keka strength tiers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KabiPay: GPS optional only per FEATURES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latin typeface="Calibri"/>
              </a:defRPr>
            </a:pPr>
            <a:r>
              <a:t>Feature matrix (slide 11 of 11)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777240"/>
          <a:ext cx="87782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1737360"/>
                <a:gridCol w="1143000"/>
                <a:gridCol w="1234440"/>
                <a:gridCol w="1417320"/>
                <a:gridCol w="2286000"/>
              </a:tblGrid>
              <a:tr h="123444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Feature / capability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KabiPay UI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Keka (benchmark)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Notes for client</a:t>
                      </a:r>
                    </a:p>
                  </a:txBody>
                  <a:tcPr anchor="ctr"/>
                </a:tc>
              </a:tr>
              <a:tr h="123444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PSA (Keka product line)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Projects billing client portal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Not HRMS focus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PSA cloud (Keka)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KabiPay: timesheet exists; full PSA is separate product decision</a:t>
                      </a:r>
                    </a:p>
                  </a:txBody>
                  <a:tcPr anchor="ctr"/>
                </a:tc>
              </a:tr>
              <a:tr h="123444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Access (Keka)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Native mobile app OTP auth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Web app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0005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Mobile-first ESS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KabiPay: position web + roadmap mobile/OTP/SSO</a:t>
                      </a:r>
                    </a:p>
                  </a:txBody>
                  <a:tcPr anchor="ctr"/>
                </a:tc>
              </a:tr>
              <a:tr h="123444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Self-service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Employee portal breadth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Partial–Implemented mix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0005–0008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Single login ESS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02020"/>
                          </a:solidFill>
                          <a:latin typeface="Calibri"/>
                        </a:rPr>
                        <a:t>Keka: payslip leave tax on mobile; you align on web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